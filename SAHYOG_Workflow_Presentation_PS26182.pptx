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🏛️ PROBLEM STATEMENT ID: 26182 | MHA I4C CIS DIVISION | TraceX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A"/>
                </a:solidFill>
              </a:defRPr>
            </a:pPr>
            <a:r>
              <a:t>TraceX — Automated Attribution of Unknown Wallets</a:t>
            </a:r>
            <a:br/>
            <a:r>
              <a:t>to Nearest Virtual Asset Service Providers (VASPs)</a:t>
            </a:r>
          </a:p>
          <a:p>
            <a:pPr>
              <a:defRPr sz="1800">
                <a:solidFill>
                  <a:srgbClr val="4F6EF7"/>
                </a:solidFill>
              </a:defRPr>
            </a:pPr>
            <a:r>
              <a:t>Integrated with SAHYOG Portal via Blockchain Intelligence APIs &amp; Graph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12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3017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⚡ LATENCY REDUCTION</a:t>
            </a:r>
          </a:p>
          <a:p>
            <a:pPr>
              <a:defRPr sz="2200" b="1">
                <a:solidFill>
                  <a:srgbClr val="F0F4FA"/>
                </a:solidFill>
              </a:defRPr>
            </a:pPr>
            <a:r>
              <a:t>&lt; 5 Seconds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From 48-72h manual tracing to instant attribution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114800"/>
            <a:ext cx="3383280" cy="2011680"/>
          </a:xfrm>
          <a:prstGeom prst="roundRect">
            <a:avLst/>
          </a:prstGeom>
          <a:solidFill>
            <a:srgbClr val="12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297680"/>
            <a:ext cx="3017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🌐 MULTI-CHAIN COVERAGE</a:t>
            </a:r>
          </a:p>
          <a:p>
            <a:pPr>
              <a:defRPr sz="2200" b="1">
                <a:solidFill>
                  <a:srgbClr val="F0F4FA"/>
                </a:solidFill>
              </a:defRPr>
            </a:pPr>
            <a:r>
              <a:t>6+ Blockchains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BTC, ETH, TRON (USDT), BNB, SOL, Polygon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3383280" cy="2011680"/>
          </a:xfrm>
          <a:prstGeom prst="roundRect">
            <a:avLst/>
          </a:prstGeom>
          <a:solidFill>
            <a:srgbClr val="12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297680"/>
            <a:ext cx="3017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📜 STATUTORY NOTICES</a:t>
            </a:r>
          </a:p>
          <a:p>
            <a:pPr>
              <a:defRPr sz="2200" b="1">
                <a:solidFill>
                  <a:srgbClr val="F0F4FA"/>
                </a:solidFill>
              </a:defRPr>
            </a:pPr>
            <a:r>
              <a:t>Sec 91 CrPC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Auto-generated freezing &amp; KYC disclosure notices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6EF7"/>
                </a:solidFill>
              </a:defRPr>
            </a:pPr>
            <a:r>
              <a:t>MINISTRY OF HOME AFFAIRS (MHA) | I4C - CIS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4FA"/>
                </a:solidFill>
              </a:defRPr>
            </a:pPr>
            <a:r>
              <a:t>The Investigative Challenge: Unhosted Wallets &amp; Laundering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🔴 Existing Investigation Bottlenecks</a:t>
            </a:r>
          </a:p>
          <a:p>
            <a:pPr>
              <a:defRPr b="1" sz="1300">
                <a:solidFill>
                  <a:srgbClr val="F0F4FA"/>
                </a:solidFill>
              </a:defRPr>
            </a:pPr>
            <a:r>
              <a:t>• Unhosted Wallet Blindspot: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Perpetrators route fraud proceeds into self-custodial wallets (MetaMask, Trust Wallet) with zero KYC records.</a:t>
            </a:r>
          </a:p>
          <a:p>
            <a:pPr>
              <a:defRPr b="1" sz="1300">
                <a:solidFill>
                  <a:srgbClr val="F0F4FA"/>
                </a:solidFill>
              </a:defRPr>
            </a:pPr>
            <a:r>
              <a:t>• Complex Multi-Hop Layering: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Funds pass through peel chains, smurfing networks, and cross-chain bridges to deliberately obscure origin.</a:t>
            </a:r>
          </a:p>
          <a:p>
            <a:pPr>
              <a:defRPr b="1" sz="1300">
                <a:solidFill>
                  <a:srgbClr val="F0F4FA"/>
                </a:solidFill>
              </a:defRPr>
            </a:pPr>
            <a:r>
              <a:t>• Manual Blockchain Exploration: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LEAs manually inspect block explorers; tracing a 5-hop path to an exchange takes days.</a:t>
            </a:r>
          </a:p>
          <a:p>
            <a:pPr>
              <a:defRPr b="1" sz="1300">
                <a:solidFill>
                  <a:srgbClr val="F0F4FA"/>
                </a:solidFill>
              </a:defRPr>
            </a:pPr>
            <a:r>
              <a:t>• Critical Freezing Delay: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By the time an exchange is manually identified, criminal syndicates cash out to fiat, rendering asset recovery impossible.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🟢 The Solution: TraceX Attribution Engine</a:t>
            </a:r>
          </a:p>
          <a:p>
            <a:pPr>
              <a:defRPr b="1" sz="1300">
                <a:solidFill>
                  <a:srgbClr val="F0F4FA"/>
                </a:solidFill>
              </a:defRPr>
            </a:pPr>
            <a:r>
              <a:t>✔ Instant Graph Attribution: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Graph traversal algorithm automatically locates the nearest centralized exchange receiving deposits in seconds.</a:t>
            </a:r>
          </a:p>
          <a:p>
            <a:pPr>
              <a:defRPr b="1" sz="1300">
                <a:solidFill>
                  <a:srgbClr val="F0F4FA"/>
                </a:solidFill>
              </a:defRPr>
            </a:pPr>
            <a:r>
              <a:t>✔ Multi-Chain Parsing: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Handles Bitcoin UTXO, Ethereum EVM, TRON TRC-20, and Solana account models seamlessly.</a:t>
            </a:r>
          </a:p>
          <a:p>
            <a:pPr>
              <a:defRPr b="1" sz="1300">
                <a:solidFill>
                  <a:srgbClr val="F0F4FA"/>
                </a:solidFill>
              </a:defRPr>
            </a:pPr>
            <a:r>
              <a:t>✔ FATF Typology Scoring: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Detects peel chains, mixer hops (Tornado Cash), rapid cashouts, and fan-out dispersion in real-time.</a:t>
            </a:r>
          </a:p>
          <a:p>
            <a:pPr>
              <a:defRPr b="1" sz="1300">
                <a:solidFill>
                  <a:srgbClr val="F0F4FA"/>
                </a:solidFill>
              </a:defRPr>
            </a:pPr>
            <a:r>
              <a:t>✔ Automated Freezing Notices: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Synthesizes statutory Section 91 CrPC / Section 69B IT Act directives with auto-populated VASP nodal contacts.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6EF7"/>
                </a:solidFill>
              </a:defRPr>
            </a:pPr>
            <a:r>
              <a:t>MINISTRY OF HOME AFFAIRS (MHA) | I4C - CIS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4FA"/>
                </a:solidFill>
              </a:defRPr>
            </a:pPr>
            <a:r>
              <a:t>End-to-End Investigation Workflow (Step-by-Step)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57400" cy="420624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7830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6EF7"/>
                </a:solidFill>
              </a:defRPr>
            </a:pPr>
            <a:r>
              <a:t>Step 1: Input</a:t>
            </a:r>
          </a:p>
          <a:p>
            <a:pPr>
              <a:defRPr sz="1500" b="1">
                <a:solidFill>
                  <a:srgbClr val="F0F4FA"/>
                </a:solidFill>
              </a:defRPr>
            </a:pPr>
            <a:r>
              <a:t>Suspect Wallet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Suspect crypto address reported on SAHYOG. Chain is auto-detected.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828800"/>
            <a:ext cx="2057400" cy="420624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011680"/>
            <a:ext cx="17830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6EF7"/>
                </a:solidFill>
              </a:defRPr>
            </a:pPr>
            <a:r>
              <a:t>Step 2: Analysis</a:t>
            </a:r>
          </a:p>
          <a:p>
            <a:pPr>
              <a:defRPr sz="1500" b="1">
                <a:solidFill>
                  <a:srgbClr val="F0F4FA"/>
                </a:solidFill>
              </a:defRPr>
            </a:pPr>
            <a:r>
              <a:t>Graph Traversal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NetworkX builds directed graph; traces mule hops &amp; peel chains.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828800"/>
            <a:ext cx="2057400" cy="420624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2011680"/>
            <a:ext cx="17830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Step 3: Screening</a:t>
            </a:r>
          </a:p>
          <a:p>
            <a:pPr>
              <a:defRPr sz="1500" b="1">
                <a:solidFill>
                  <a:srgbClr val="F0F4FA"/>
                </a:solidFill>
              </a:defRPr>
            </a:pPr>
            <a:r>
              <a:t>AML &amp; Sanctions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Live query to PublicAML (OFAC) &amp; Chainabuse scam databases.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9" y="1828800"/>
            <a:ext cx="2057400" cy="420624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59" y="2011680"/>
            <a:ext cx="17830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Step 4: Attribution</a:t>
            </a:r>
          </a:p>
          <a:p>
            <a:pPr>
              <a:defRPr sz="1500" b="1">
                <a:solidFill>
                  <a:srgbClr val="F0F4FA"/>
                </a:solidFill>
              </a:defRPr>
            </a:pPr>
            <a:r>
              <a:t>Nearest VASP Match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Identifies exchange cluster (Binance, CoinDCX, etc.) + confidence 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828800"/>
            <a:ext cx="2057400" cy="420624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2011680"/>
            <a:ext cx="17830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Step 5: Action</a:t>
            </a:r>
          </a:p>
          <a:p>
            <a:pPr>
              <a:defRPr sz="1500" b="1">
                <a:solidFill>
                  <a:srgbClr val="F0F4FA"/>
                </a:solidFill>
              </a:defRPr>
            </a:pPr>
            <a:r>
              <a:t>Section 91 CrPC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Auto-generates legal notice with INR value &amp; compliance nodal email.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6EF7"/>
                </a:solidFill>
              </a:defRPr>
            </a:pPr>
            <a:r>
              <a:t>MINISTRY OF HOME AFFAIRS (MHA) | I4C - CIS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4FA"/>
                </a:solidFill>
              </a:defRPr>
            </a:pPr>
            <a:r>
              <a:t>System Architecture: Modular &amp; Scalable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6EF7"/>
                </a:solidFill>
              </a:defRPr>
            </a:pPr>
            <a:r>
              <a:t>🖥️ Presentation Layer — LEA Forensic Dashboard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Single-Page Interactive Dashboard (HTML5/Canvas)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Canvas fund flow graph visualization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Risk gauge &amp; FATF typologies display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Section 91 CrPC notice generator &amp; copy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19456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7548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⚡ Core Backend Gateway — FastAPI Service (app.py)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High-performance REST API endpoints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Integrated SQLite database (sahyog.db)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OpenAPI / Swagger documentation (/docs)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Multi-chain address format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7548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🧠 Intelligence &amp; Attribution — NetworkX Graph Tracer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Directed multi-hop transaction tracing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FATF typology detection (Peel chain, mixers)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15+ VASP registry (Indian &amp; Global exchanges)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Confidence calculation algorithm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5120640" cy="219456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160520"/>
            <a:ext cx="47548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🔗 Real Data Interface — Blockchain &amp; AML APIs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PublicAML API (Live OFAC/UN sanctions)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Chainabuse API (Live scam database)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Blockchair / TronScan / Etherscan (Balances)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Graceful simulated fallback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6EF7"/>
                </a:solidFill>
              </a:defRPr>
            </a:pPr>
            <a:r>
              <a:t>MINISTRY OF HOME AFFAIRS (MHA) | I4C - CIS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4FA"/>
                </a:solidFill>
              </a:defRPr>
            </a:pPr>
            <a:r>
              <a:t>VASP Attribution &amp; Lawful Disclosure Notice Generator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F6EF7"/>
                </a:solidFill>
              </a:defRPr>
            </a:pPr>
            <a:r>
              <a:t>🏦 VASP Cluster Registry &amp; Verification</a:t>
            </a:r>
          </a:p>
          <a:p>
            <a:pPr>
              <a:defRPr b="1" sz="1200">
                <a:solidFill>
                  <a:srgbClr val="F0F4FA"/>
                </a:solidFill>
              </a:defRPr>
            </a:pPr>
            <a:r>
              <a:t>• Indian VASPs (PMLA / FIU-IND):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WazirX, CoinDCX, ZebPay, Mudrex, CoinSwitch — Nodal officers, registered addresses &amp; compliance emails.</a:t>
            </a:r>
          </a:p>
          <a:p>
            <a:pPr>
              <a:defRPr b="1" sz="1200">
                <a:solidFill>
                  <a:srgbClr val="F0F4FA"/>
                </a:solidFill>
              </a:defRPr>
            </a:pPr>
            <a:r>
              <a:t>• International Exchanges: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Binance, OKX, Bybit, KuCoin, Kraken, Coinbase — Escalation via MLAT, INTERPOL I-24/7, and Egmont Group channels.</a:t>
            </a:r>
          </a:p>
          <a:p>
            <a:pPr>
              <a:defRPr b="1" sz="1200">
                <a:solidFill>
                  <a:srgbClr val="F0F4FA"/>
                </a:solidFill>
              </a:defRPr>
            </a:pPr>
            <a:r>
              <a:t>• Mixers &amp; Sanctioned Pools: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Tornado Cash (ETH/BNB pools), ChipMixer — Explicit OFAC SDN flagging.</a:t>
            </a:r>
          </a:p>
          <a:p>
            <a:pPr>
              <a:defRPr b="1" sz="1200">
                <a:solidFill>
                  <a:srgbClr val="F0F4FA"/>
                </a:solidFill>
              </a:defRPr>
            </a:pPr>
            <a:r>
              <a:t>• DeFi Bridges: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AnySwap, cBridge, Polygon Bridge cross-chain transfer signatures.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4D399"/>
                </a:solidFill>
              </a:defRPr>
            </a:pPr>
            <a:r>
              <a:t>📜 Statutory Notice Synthesis (Court-Ready)</a:t>
            </a:r>
          </a:p>
          <a:p>
            <a:pPr>
              <a:defRPr b="1" sz="1200">
                <a:solidFill>
                  <a:srgbClr val="F0F4FA"/>
                </a:solidFill>
              </a:defRPr>
            </a:pPr>
            <a:r>
              <a:t>✔ Statutory Directives: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Issued under Section 91 &amp; 102 CrPC, Section 69B IT Act, and PMLA (2002) Section 17.</a:t>
            </a:r>
          </a:p>
          <a:p>
            <a:pPr>
              <a:defRPr b="1" sz="1200">
                <a:solidFill>
                  <a:srgbClr val="F0F4FA"/>
                </a:solidFill>
              </a:defRPr>
            </a:pPr>
            <a:r>
              <a:t>✔ Information Demanded: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Full KYC (Aadhaar/PAN), bank account linkage, counterparty wallet records, IP logs &amp; device fingerprints.</a:t>
            </a:r>
          </a:p>
          <a:p>
            <a:pPr>
              <a:defRPr b="1" sz="1200">
                <a:solidFill>
                  <a:srgbClr val="F0F4FA"/>
                </a:solidFill>
              </a:defRPr>
            </a:pPr>
            <a:r>
              <a:t>✔ Immediate Asset Hold: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Directs VASP to impose immediate 30-day operational freeze on the target deposit wallet.</a:t>
            </a:r>
          </a:p>
          <a:p>
            <a:pPr>
              <a:defRPr b="1" sz="1200">
                <a:solidFill>
                  <a:srgbClr val="F0F4FA"/>
                </a:solidFill>
              </a:defRPr>
            </a:pPr>
            <a:r>
              <a:t>✔ Tamper-Proof Audit Hash: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Unique SHA-256 evidence integrity hash embedded for evidentiary admissibility in Indian courts.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6EF7"/>
                </a:solidFill>
              </a:defRPr>
            </a:pPr>
            <a:r>
              <a:t>MINISTRY OF HOME AFFAIRS (MHA) | I4C - CIS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4FA"/>
                </a:solidFill>
              </a:defRPr>
            </a:pPr>
            <a:r>
              <a:t>Operational Impact &amp; Expected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2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⚡ Instant Turnaround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Reduces investigation latency from 48-72 hours to under 5 seconds, enabling immediate asset freezing before cashout.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2103120"/>
          </a:xfrm>
          <a:prstGeom prst="roundRect">
            <a:avLst/>
          </a:prstGeom>
          <a:solidFill>
            <a:srgbClr val="12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78308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🎯 High Attribution Accuracy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Heuristic graph analysis coupled with known deposit cluster patterns yields attribution confidence scores above 85%.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12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78308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🛡️ Proactive Risk Intelligence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Automated detection of FATF typologies (peel chains, mixer funnels) flags high-risk illicit syndicates.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12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⚖️ Seamless Legal Compliance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Standardized Section 91 CrPC notice templates ensure rapid acceptance by VASP legal response teams.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931920"/>
            <a:ext cx="3383280" cy="2103120"/>
          </a:xfrm>
          <a:prstGeom prst="roundRect">
            <a:avLst/>
          </a:prstGeom>
          <a:solidFill>
            <a:srgbClr val="12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06908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🇮🇳 National Security &amp; LEA Support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Equips I4C, State Cyber Crime Police Stations, and central agencies with indigenous intelligence capabilities.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931920"/>
            <a:ext cx="3383280" cy="2103120"/>
          </a:xfrm>
          <a:prstGeom prst="roundRect">
            <a:avLst/>
          </a:prstGeom>
          <a:solidFill>
            <a:srgbClr val="12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06908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🌐 Multi-Jurisdictional Tracing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Supports cross-border investigative routing through INTERPOL NCB New Delhi and FIU-IND channels.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